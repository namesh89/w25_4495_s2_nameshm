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sldIdLst>
    <p:sldId id="256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ara Arachchi Vidanalage, Namesh C." userId="d3f6f4c7-a6eb-49cb-af0b-6bb0062f54c8" providerId="ADAL" clId="{6085C968-79EC-4AB4-BDD7-731529A9785D}"/>
    <pc:docChg chg="modSld">
      <pc:chgData name="Mathara Arachchi Vidanalage, Namesh C." userId="d3f6f4c7-a6eb-49cb-af0b-6bb0062f54c8" providerId="ADAL" clId="{6085C968-79EC-4AB4-BDD7-731529A9785D}" dt="2025-04-14T04:33:10.277" v="1" actId="20577"/>
      <pc:docMkLst>
        <pc:docMk/>
      </pc:docMkLst>
      <pc:sldChg chg="modSp mod">
        <pc:chgData name="Mathara Arachchi Vidanalage, Namesh C." userId="d3f6f4c7-a6eb-49cb-af0b-6bb0062f54c8" providerId="ADAL" clId="{6085C968-79EC-4AB4-BDD7-731529A9785D}" dt="2025-04-14T04:33:10.277" v="1" actId="20577"/>
        <pc:sldMkLst>
          <pc:docMk/>
          <pc:sldMk cId="3004609974" sldId="261"/>
        </pc:sldMkLst>
        <pc:spChg chg="mod">
          <ac:chgData name="Mathara Arachchi Vidanalage, Namesh C." userId="d3f6f4c7-a6eb-49cb-af0b-6bb0062f54c8" providerId="ADAL" clId="{6085C968-79EC-4AB4-BDD7-731529A9785D}" dt="2025-04-14T04:33:10.277" v="1" actId="20577"/>
          <ac:spMkLst>
            <pc:docMk/>
            <pc:sldMk cId="3004609974" sldId="261"/>
            <ac:spMk id="2" creationId="{F6A625A3-3649-02EC-F4EC-4BE51621A2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4/13/2025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4/13/2025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4529" y="3429000"/>
            <a:ext cx="7840492" cy="1090938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5100" dirty="0">
                <a:solidFill>
                  <a:srgbClr val="FFFFFF"/>
                </a:solidFill>
              </a:rPr>
              <a:t>EcoMatch AI</a:t>
            </a:r>
            <a:r>
              <a:rPr lang="en-US" sz="3200" dirty="0">
                <a:solidFill>
                  <a:srgbClr val="FFFFFF"/>
                </a:solidFill>
              </a:rPr>
              <a:t>: </a:t>
            </a:r>
            <a:r>
              <a:rPr lang="en-US" sz="3600" dirty="0">
                <a:solidFill>
                  <a:srgbClr val="FFFFFF"/>
                </a:solidFill>
              </a:rPr>
              <a:t>An Automated Product Inquiry Response System for Light Recycling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Namesh Mathara Arachchi Vidanalage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82F63-BAEC-EB92-6682-8CEF20C7AA11}"/>
              </a:ext>
            </a:extLst>
          </p:cNvPr>
          <p:cNvSpPr txBox="1">
            <a:spLocks/>
          </p:cNvSpPr>
          <p:nvPr/>
        </p:nvSpPr>
        <p:spPr>
          <a:xfrm>
            <a:off x="340134" y="321012"/>
            <a:ext cx="3855470" cy="6217439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BACKGROUND &amp; PURPOSE</a:t>
            </a:r>
          </a:p>
          <a:p>
            <a:pPr algn="ctr"/>
            <a:endParaRPr lang="en-CA" sz="2800" dirty="0"/>
          </a:p>
          <a:p>
            <a:pPr algn="ctr"/>
            <a:endParaRPr lang="en-CA" sz="2800" dirty="0"/>
          </a:p>
          <a:p>
            <a:pPr algn="ctr"/>
            <a:endParaRPr lang="en-CA" sz="2800" dirty="0"/>
          </a:p>
          <a:p>
            <a:pPr algn="ctr"/>
            <a:endParaRPr lang="en-CA" sz="2800" dirty="0"/>
          </a:p>
          <a:p>
            <a:pPr algn="ctr"/>
            <a:endParaRPr lang="en-CA" sz="2800" dirty="0"/>
          </a:p>
          <a:p>
            <a:pPr algn="ctr"/>
            <a:endParaRPr lang="en-CA" sz="28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Product Care Association (PCA)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 Recycling post-consumer lighting products across Canada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Manual product inquiry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 Inefficiencies and delays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dirty="0"/>
              <a:t> Inconsistent decision-making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AACF7C-F49D-1F78-9AB6-A0AB5033D5F3}"/>
              </a:ext>
            </a:extLst>
          </p:cNvPr>
          <p:cNvSpPr txBox="1">
            <a:spLocks/>
          </p:cNvSpPr>
          <p:nvPr/>
        </p:nvSpPr>
        <p:spPr>
          <a:xfrm>
            <a:off x="4250283" y="319550"/>
            <a:ext cx="3800792" cy="6217438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RESEARCH QUESTION</a:t>
            </a:r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marL="0" indent="0" algn="ctr">
              <a:buNone/>
            </a:pPr>
            <a:endParaRPr lang="en-US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How can I design and implement a product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CA" sz="1600" dirty="0"/>
              <a:t> End-to-end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CA" sz="1600" dirty="0"/>
              <a:t> AI-powered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CA" sz="1600" dirty="0"/>
              <a:t> Inte</a:t>
            </a:r>
            <a:r>
              <a:rPr lang="en-US" sz="1600" dirty="0"/>
              <a:t>grates text and image data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600" dirty="0"/>
              <a:t> Minimizes response times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sz="1600" dirty="0"/>
              <a:t> Enhances matching accuracy </a:t>
            </a:r>
            <a:endParaRPr lang="en-CA" sz="16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B3AAC1-B8D6-36B2-60EF-F249524564C1}"/>
              </a:ext>
            </a:extLst>
          </p:cNvPr>
          <p:cNvSpPr txBox="1">
            <a:spLocks/>
          </p:cNvSpPr>
          <p:nvPr/>
        </p:nvSpPr>
        <p:spPr>
          <a:xfrm>
            <a:off x="8051075" y="321012"/>
            <a:ext cx="3800792" cy="6217437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NOVELTY</a:t>
            </a:r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marL="0" indent="0" algn="ctr">
              <a:buNone/>
            </a:pPr>
            <a:endParaRPr lang="en-CA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PCA’s first ML-powered system</a:t>
            </a:r>
          </a:p>
          <a:p>
            <a:pPr algn="ctr"/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1A5B3A-A4C6-C4EA-B780-DB05EE3E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63" y="1425679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668276-900C-F29A-5BE6-3A33D651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712" y="1425679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0D93AD-E24E-BD8F-9A85-196C05ADE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504" y="1425679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161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2C756-EA20-F561-34B7-A67699C37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2F86D-C366-FEF9-D007-F52C722698C6}"/>
              </a:ext>
            </a:extLst>
          </p:cNvPr>
          <p:cNvSpPr txBox="1">
            <a:spLocks/>
          </p:cNvSpPr>
          <p:nvPr/>
        </p:nvSpPr>
        <p:spPr>
          <a:xfrm>
            <a:off x="340134" y="1128405"/>
            <a:ext cx="3800792" cy="5466954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Web Portal</a:t>
            </a:r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marL="0" indent="0" algn="ctr">
              <a:buNone/>
            </a:pPr>
            <a:endParaRPr lang="en-CA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Frontend</a:t>
            </a:r>
            <a:r>
              <a:rPr lang="en-US" sz="2000" dirty="0"/>
              <a:t>: Python Flask and Bootstrap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Backend</a:t>
            </a:r>
            <a:r>
              <a:rPr lang="en-US" sz="2000" dirty="0"/>
              <a:t>: Python Flask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Data Storage</a:t>
            </a:r>
            <a:r>
              <a:rPr lang="en-US" sz="2000" dirty="0"/>
              <a:t>: Azure Table Storage and Azure Blob Storage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CA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546D1E-D957-AB50-7FB0-C1F1BC566E78}"/>
              </a:ext>
            </a:extLst>
          </p:cNvPr>
          <p:cNvSpPr txBox="1">
            <a:spLocks/>
          </p:cNvSpPr>
          <p:nvPr/>
        </p:nvSpPr>
        <p:spPr>
          <a:xfrm>
            <a:off x="4195604" y="1128405"/>
            <a:ext cx="3800792" cy="5466954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Text Similarity</a:t>
            </a:r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marL="0" indent="0" algn="ctr">
              <a:buNone/>
            </a:pPr>
            <a:endParaRPr lang="en-CA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Technique</a:t>
            </a:r>
            <a:r>
              <a:rPr lang="en-US" sz="2000" dirty="0"/>
              <a:t>: Sentence-BERT (SBERT) – fine-tuned transformer for semantic similarity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1600" dirty="0"/>
              <a:t> </a:t>
            </a:r>
            <a:r>
              <a:rPr lang="en-CA" sz="1600" b="1" dirty="0"/>
              <a:t>Short text</a:t>
            </a:r>
            <a:r>
              <a:rPr lang="en-CA" sz="1600" dirty="0"/>
              <a:t>: all-mpnet-base-v2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1600" dirty="0"/>
              <a:t> </a:t>
            </a:r>
            <a:r>
              <a:rPr lang="en-CA" sz="1600" b="1" dirty="0"/>
              <a:t>Long text</a:t>
            </a:r>
            <a:r>
              <a:rPr lang="en-CA" sz="1600" dirty="0"/>
              <a:t>: </a:t>
            </a:r>
            <a:r>
              <a:rPr lang="en-CA" sz="1600" dirty="0" err="1"/>
              <a:t>bert</a:t>
            </a:r>
            <a:r>
              <a:rPr lang="en-CA" sz="1600" dirty="0"/>
              <a:t>-large-</a:t>
            </a:r>
            <a:r>
              <a:rPr lang="en-CA" sz="1600" dirty="0" err="1"/>
              <a:t>nli</a:t>
            </a:r>
            <a:r>
              <a:rPr lang="en-CA" sz="1600" dirty="0"/>
              <a:t>-</a:t>
            </a:r>
            <a:r>
              <a:rPr lang="en-CA" sz="1600" dirty="0" err="1"/>
              <a:t>stsb</a:t>
            </a:r>
            <a:r>
              <a:rPr lang="en-CA" sz="1600" dirty="0"/>
              <a:t>-mean-tokens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218CC24-0654-396D-D56F-1392F3235A1B}"/>
              </a:ext>
            </a:extLst>
          </p:cNvPr>
          <p:cNvSpPr txBox="1">
            <a:spLocks/>
          </p:cNvSpPr>
          <p:nvPr/>
        </p:nvSpPr>
        <p:spPr>
          <a:xfrm>
            <a:off x="8051074" y="1128406"/>
            <a:ext cx="3800792" cy="5466953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Image Similarity</a:t>
            </a:r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marL="0" indent="0" algn="ctr">
              <a:buNone/>
            </a:pPr>
            <a:endParaRPr lang="en-CA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</a:t>
            </a:r>
            <a:r>
              <a:rPr lang="en-US" sz="2000" b="1" dirty="0"/>
              <a:t>Technique</a:t>
            </a:r>
            <a:r>
              <a:rPr lang="en-US" sz="2000" dirty="0"/>
              <a:t>: Convolutional Neural Networks (CNN) based feature extraction for image similarity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1600" dirty="0"/>
              <a:t> </a:t>
            </a:r>
            <a:r>
              <a:rPr lang="en-CA" sz="1600" b="1" dirty="0"/>
              <a:t>Best performer</a:t>
            </a:r>
            <a:r>
              <a:rPr lang="en-CA" sz="1600" dirty="0"/>
              <a:t>: ResNet50</a:t>
            </a:r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43376A-2769-92FC-D8A5-090B48BF037B}"/>
              </a:ext>
            </a:extLst>
          </p:cNvPr>
          <p:cNvSpPr txBox="1"/>
          <p:nvPr/>
        </p:nvSpPr>
        <p:spPr>
          <a:xfrm>
            <a:off x="802564" y="262641"/>
            <a:ext cx="10586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000" dirty="0">
                <a:latin typeface="+mj-lt"/>
              </a:rPr>
              <a:t>Methodology and Tech Stack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3B2E5-4C7C-189D-153D-45003066F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563" y="1699203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CFFC89-A871-905A-9270-21230E854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033" y="1699203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6" name="Picture 15" descr="A blue icon with a picture and arrows&#10;&#10;AI-generated content may be incorrect.">
            <a:extLst>
              <a:ext uri="{FF2B5EF4-FFF2-40B4-BE49-F238E27FC236}">
                <a16:creationId xmlns:a16="http://schemas.microsoft.com/office/drawing/2014/main" id="{20F9EFFA-78EE-6867-2B68-105842C69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503" y="1699203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573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0223-04BA-1C4D-F5FA-C7DE7A952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64CD2-97E3-7272-6558-71E94B704498}"/>
              </a:ext>
            </a:extLst>
          </p:cNvPr>
          <p:cNvSpPr txBox="1">
            <a:spLocks/>
          </p:cNvSpPr>
          <p:nvPr/>
        </p:nvSpPr>
        <p:spPr>
          <a:xfrm>
            <a:off x="340133" y="165354"/>
            <a:ext cx="5574283" cy="6566186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Challenges Faced</a:t>
            </a:r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marL="0" indent="0" algn="ctr">
              <a:buNone/>
            </a:pPr>
            <a:endParaRPr lang="en-CA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CNN model - ResNet50 was slow, taking over 5 minutes to run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Limited experience using Python in a full-stack development context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Understanding and applying complex NLP and CNN models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Insufficient labeled data for training ML models</a:t>
            </a:r>
            <a:endParaRPr lang="en-CA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6B193C-E2CD-8C4A-ECC1-1BF05DDAB1A9}"/>
              </a:ext>
            </a:extLst>
          </p:cNvPr>
          <p:cNvSpPr txBox="1">
            <a:spLocks/>
          </p:cNvSpPr>
          <p:nvPr/>
        </p:nvSpPr>
        <p:spPr>
          <a:xfrm>
            <a:off x="6277584" y="165354"/>
            <a:ext cx="5574283" cy="6566185"/>
          </a:xfrm>
          <a:prstGeom prst="rect">
            <a:avLst/>
          </a:prstGeom>
          <a:ln>
            <a:noFill/>
          </a:ln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800" dirty="0"/>
              <a:t>Lessons Learned</a:t>
            </a:r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algn="ctr"/>
            <a:endParaRPr lang="en-CA" sz="1200" dirty="0"/>
          </a:p>
          <a:p>
            <a:pPr marL="0" indent="0" algn="ctr">
              <a:buNone/>
            </a:pPr>
            <a:endParaRPr lang="en-CA" sz="12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Precomputing embeddings drastically cut runtime from 5 minutes to 5 seconds, showing the value of optimizing for production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Persistence and leveraging online resources made it possible to understand complex concepts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 Adding an admin review process improved data quality and helped generate valuable training data over time</a:t>
            </a:r>
            <a:endParaRPr lang="en-CA" sz="2000" dirty="0"/>
          </a:p>
        </p:txBody>
      </p:sp>
      <p:pic>
        <p:nvPicPr>
          <p:cNvPr id="9" name="Picture 8" descr="A blue icon with a question mark&#10;&#10;AI-generated content may be incorrect.">
            <a:extLst>
              <a:ext uri="{FF2B5EF4-FFF2-40B4-BE49-F238E27FC236}">
                <a16:creationId xmlns:a16="http://schemas.microsoft.com/office/drawing/2014/main" id="{EF5104CC-B6E9-EB92-2049-584C7B00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307" y="940445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A blue icon of a head with a book and a check mark&#10;&#10;AI-generated content may be incorrect.">
            <a:extLst>
              <a:ext uri="{FF2B5EF4-FFF2-40B4-BE49-F238E27FC236}">
                <a16:creationId xmlns:a16="http://schemas.microsoft.com/office/drawing/2014/main" id="{BA70CDD8-FAB9-A4CA-F64C-7E189E465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759" y="940445"/>
            <a:ext cx="2875934" cy="28759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884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D11F2-F899-11A3-61D6-13A383495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625A3-3649-02EC-F4EC-4BE51621A226}"/>
              </a:ext>
            </a:extLst>
          </p:cNvPr>
          <p:cNvSpPr txBox="1"/>
          <p:nvPr/>
        </p:nvSpPr>
        <p:spPr>
          <a:xfrm>
            <a:off x="8482521" y="5593399"/>
            <a:ext cx="3404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>
                <a:latin typeface="+mj-lt"/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30046099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153</TotalTime>
  <Words>256</Words>
  <Application>Microsoft Office PowerPoint</Application>
  <PresentationFormat>Widescreen</PresentationFormat>
  <Paragraphs>114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Courier New</vt:lpstr>
      <vt:lpstr>Tw Cen MT</vt:lpstr>
      <vt:lpstr>Tw Cen MT Condensed</vt:lpstr>
      <vt:lpstr>Wingdings</vt:lpstr>
      <vt:lpstr>Wingdings 3</vt:lpstr>
      <vt:lpstr>Integral</vt:lpstr>
      <vt:lpstr>EcoMatch AI: An Automated Product Inquiry Response System for Light Recycling Program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Mathara Arachchi Vidanalage, Namesh C.</dc:creator>
  <cp:lastModifiedBy>Mathara Arachchi Vidanalage, Namesh C.</cp:lastModifiedBy>
  <cp:revision>1</cp:revision>
  <dcterms:created xsi:type="dcterms:W3CDTF">2025-04-14T01:59:34Z</dcterms:created>
  <dcterms:modified xsi:type="dcterms:W3CDTF">2025-04-14T04:33:16Z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